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3" r:id="rId4"/>
    <p:sldId id="265" r:id="rId5"/>
    <p:sldId id="259" r:id="rId6"/>
    <p:sldId id="257" r:id="rId7"/>
    <p:sldId id="268" r:id="rId8"/>
    <p:sldId id="269" r:id="rId9"/>
    <p:sldId id="267" r:id="rId10"/>
    <p:sldId id="266" r:id="rId11"/>
    <p:sldId id="261" r:id="rId12"/>
    <p:sldId id="264" r:id="rId13"/>
    <p:sldId id="270" r:id="rId14"/>
  </p:sldIdLst>
  <p:sldSz cx="18288000" cy="10287000"/>
  <p:notesSz cx="6858000" cy="9144000"/>
  <p:embeddedFontLst>
    <p:embeddedFont>
      <p:font typeface="맑은 고딕" panose="020B0503020000020004" pitchFamily="50" charset="-127"/>
      <p:regular r:id="rId16"/>
      <p:bold r:id="rId17"/>
    </p:embeddedFont>
    <p:embeddedFont>
      <p:font typeface="League Spartan" panose="020B0600000101010101" charset="0"/>
      <p:regular r:id="rId18"/>
    </p:embeddedFont>
    <p:embeddedFont>
      <p:font typeface="Poppins" panose="00000500000000000000" pitchFamily="2" charset="0"/>
      <p:regular r:id="rId19"/>
      <p:bold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Bold" panose="02000000000000000000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석 박" userId="a67ae6d1429c59d5" providerId="LiveId" clId="{C9868FA7-0CC5-41E0-9D70-CDE1B2960F91}"/>
    <pc:docChg chg="custSel modSld">
      <pc:chgData name="재석 박" userId="a67ae6d1429c59d5" providerId="LiveId" clId="{C9868FA7-0CC5-41E0-9D70-CDE1B2960F91}" dt="2026-10-16T04:43:02.434" v="106" actId="113"/>
      <pc:docMkLst>
        <pc:docMk/>
      </pc:docMkLst>
      <pc:sldChg chg="modSp mod">
        <pc:chgData name="재석 박" userId="a67ae6d1429c59d5" providerId="LiveId" clId="{C9868FA7-0CC5-41E0-9D70-CDE1B2960F91}" dt="2026-10-16T04:43:02.434" v="106" actId="113"/>
        <pc:sldMkLst>
          <pc:docMk/>
          <pc:sldMk cId="0" sldId="256"/>
        </pc:sldMkLst>
        <pc:spChg chg="mod">
          <ac:chgData name="재석 박" userId="a67ae6d1429c59d5" providerId="LiveId" clId="{C9868FA7-0CC5-41E0-9D70-CDE1B2960F91}" dt="2026-10-16T04:43:02.434" v="106" actId="113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재석 박" userId="a67ae6d1429c59d5" providerId="LiveId" clId="{C9868FA7-0CC5-41E0-9D70-CDE1B2960F91}" dt="2026-10-16T04:40:15.581" v="0" actId="20577"/>
        <pc:sldMkLst>
          <pc:docMk/>
          <pc:sldMk cId="0" sldId="258"/>
        </pc:sldMkLst>
        <pc:spChg chg="mod">
          <ac:chgData name="재석 박" userId="a67ae6d1429c59d5" providerId="LiveId" clId="{C9868FA7-0CC5-41E0-9D70-CDE1B2960F91}" dt="2026-10-16T04:40:15.581" v="0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재석 박" userId="a67ae6d1429c59d5" providerId="LiveId" clId="{C9868FA7-0CC5-41E0-9D70-CDE1B2960F91}" dt="2026-10-16T04:40:49.242" v="7" actId="1036"/>
        <pc:sldMkLst>
          <pc:docMk/>
          <pc:sldMk cId="0" sldId="269"/>
        </pc:sldMkLst>
        <pc:spChg chg="mod">
          <ac:chgData name="재석 박" userId="a67ae6d1429c59d5" providerId="LiveId" clId="{C9868FA7-0CC5-41E0-9D70-CDE1B2960F91}" dt="2026-10-16T04:40:49.242" v="7" actId="10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재석 박" userId="a67ae6d1429c59d5" providerId="LiveId" clId="{C9868FA7-0CC5-41E0-9D70-CDE1B2960F91}" dt="2026-10-16T04:40:49.242" v="7" actId="1036"/>
          <ac:spMkLst>
            <pc:docMk/>
            <pc:sldMk cId="0" sldId="269"/>
            <ac:spMk id="4" creationId="{00000000-0000-0000-0000-000000000000}"/>
          </ac:spMkLst>
        </pc:spChg>
        <pc:spChg chg="mod">
          <ac:chgData name="재석 박" userId="a67ae6d1429c59d5" providerId="LiveId" clId="{C9868FA7-0CC5-41E0-9D70-CDE1B2960F91}" dt="2026-10-16T04:40:49.242" v="7" actId="1036"/>
          <ac:spMkLst>
            <pc:docMk/>
            <pc:sldMk cId="0" sldId="269"/>
            <ac:spMk id="5" creationId="{00000000-0000-0000-0000-000000000000}"/>
          </ac:spMkLst>
        </pc:spChg>
      </pc:sldChg>
      <pc:sldChg chg="delSp mod">
        <pc:chgData name="재석 박" userId="a67ae6d1429c59d5" providerId="LiveId" clId="{C9868FA7-0CC5-41E0-9D70-CDE1B2960F91}" dt="2026-10-16T04:41:17.017" v="8" actId="478"/>
        <pc:sldMkLst>
          <pc:docMk/>
          <pc:sldMk cId="0" sldId="270"/>
        </pc:sldMkLst>
        <pc:spChg chg="del">
          <ac:chgData name="재석 박" userId="a67ae6d1429c59d5" providerId="LiveId" clId="{C9868FA7-0CC5-41E0-9D70-CDE1B2960F91}" dt="2026-10-16T04:41:17.017" v="8" actId="478"/>
          <ac:spMkLst>
            <pc:docMk/>
            <pc:sldMk cId="0" sldId="270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3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안녕하세요. 저희는 말하지 않아도 전화로 소통할 수 있게 돕는 AI 대리 통화 서비스, CallProtocol입니다.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메신저와 앱이 일상이 됐지만, 동네 병원 예약이나 식당 예약, 택배나 집주인 연락처럼 아직도 전화로만 처리되는 일이 많습니다. 전화를 할 수 없는 사람에게는 이 한 통이 넘을 수 없는 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저희가 집중한 고객은 청각장애인, 언어장애인, 그리고 전화 통화에 큰 불안을 느끼는 콜포비아입니다. 이분들은 전화가 필요할 때마다 가족이나 지인에게 부탁해야 하고, 그만큼 자립과 사생활이 침해됩니다.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지금도 107 손말이음센터처럼 사람 중계사가 대신 통화해 주는 공공 서비스가 있습니다. 하지만 사람이 중간에 있어 대기가 생기고, 내 통화를 제3자가 모두 듣게 됩니다. 해외에서는 AI 대리 통화가 막 나오고 있지만, 한국어와 국내 가게 환경에 맞춘 서비스는 아직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CallProtocol은 세 단계로 동작합니다. 사용자는 글로 부탁하고, AI 비서가 자연스러운 한국어 목소리로 대신 통화하며, 사용자는 그 통화를 실시간 자막으로 보면서 언제든 글로 끼어들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사용 방법은 간단합니다. 전화번호와 부탁할 내용을 적으면, AI가 이해한 내용을 먼저 보여 주고 사용자가 승인하면 전화를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통화 방식도 사용자가 고를 수 있습니다. 기본은 AI가 통화하고 사용자는 자막을 보며 개입하는 AI 보조 통화이고, AI에게 완전히 맡기는 자율 통화, 직접 입력한 문장을 AI 목소리로 그대로 전달하는 텍스트 직접 통화도 있습니다. 내 이름과 연락처 뒷자리를 설정해 두면 AI가 예약자 정보를 대신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보이스톡으로 진행한 병원 예약 통화입니다. AI가 먼저 AI 비서임을 밝히고 용건을 전달하면, 병원 측 말이 실시간 자막으로 올라옵니다. 오전이 마감되자 사용자가 '오후 2시로 해줘'라고 입력해 개입했고, 병원이 주민번호를 요구하자 AI가 개인정보라며 거절했습니다. 예약이 확정되면 AI가 내용을 복창하고, 통화가 끝나면 확정된 오후 2시가 결과로 자동 정리됩니다.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[여기서 1분 라이브 시연] 실제 통화 장면입니다. 오전 진료가 마감되자 AI는 마음대로 결정하지 않고 사용자에게 묻습니다. 사용자가 '오후 2시로 해줘'라고 입력하자 AI가 바로 병원에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구현은 네 단계로 이어집니다. 사용자는 웹 앱에서 요청하고 자막을 봅니다. 통화는 ElevenLabs 음성 AI가 맡는데, 상대방 음성을 인식하고 AI가 대답을 만든 뒤 한국어 음성으로 바꾸는 과정이 WebSocket으로 실시간 연결됩니다. 데모에서는 가상 오디오 케이블로 AI의 입과 귀를 카카오톡 보이스톡에 연결해 실제 폰으로 통화했고, 실서비스에서는 이 부분을 Twilio 같은 전화망 API로 바꿔 실제 전화번호로 바로 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대리 통화는 악용될 수 있기 때문에 안전을 먼저 설계했습니다. AI는 첫마디에 항상 AI임을 밝히고, 주민번호 같은 개인정보나 결제 요청은 거절하며, 중요한 결정은 사용자에게 먼저 묻습니다.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앞으로는 전화망을 직접 연결해 실제 전화번호로 걸고, 걸려 오는 전화도 자막으로 받을 수 있게 하며, 외국인과 어르신까지 사용자를 넓히려고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말하지 않아도 전화로 소통할 수 있는 세상, CallProtocol이 만들겠습니다.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220957" y="4506120"/>
            <a:ext cx="9846085" cy="141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8265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CallProtocol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004" y="3528848"/>
            <a:ext cx="5641992" cy="91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sz="4000" b="1" dirty="0">
                <a:solidFill>
                  <a:srgbClr val="303642"/>
                </a:solidFill>
                <a:latin typeface="Roboto Bold"/>
                <a:ea typeface="맑은 고딕"/>
                <a:cs typeface="맑은 고딕"/>
                <a:sym typeface="Roboto Bold"/>
              </a:rPr>
              <a:t>AI </a:t>
            </a:r>
            <a:r>
              <a:rPr lang="en-US" sz="4000" b="1" dirty="0" err="1">
                <a:solidFill>
                  <a:srgbClr val="303642"/>
                </a:solidFill>
                <a:latin typeface="Roboto Bold"/>
                <a:ea typeface="맑은 고딕"/>
                <a:cs typeface="맑은 고딕"/>
                <a:sym typeface="Roboto Bold"/>
              </a:rPr>
              <a:t>대리</a:t>
            </a:r>
            <a:r>
              <a:rPr lang="en-US" sz="4000" b="1" dirty="0">
                <a:solidFill>
                  <a:srgbClr val="303642"/>
                </a:solidFill>
                <a:latin typeface="Roboto Bold"/>
                <a:ea typeface="맑은 고딕"/>
                <a:cs typeface="맑은 고딕"/>
                <a:sym typeface="Roboto Bold"/>
              </a:rPr>
              <a:t> </a:t>
            </a:r>
            <a:r>
              <a:rPr lang="en-US" sz="4000" b="1" dirty="0" err="1">
                <a:solidFill>
                  <a:srgbClr val="303642"/>
                </a:solidFill>
                <a:latin typeface="Roboto Bold"/>
                <a:ea typeface="맑은 고딕"/>
                <a:cs typeface="맑은 고딕"/>
                <a:sym typeface="Roboto Bold"/>
              </a:rPr>
              <a:t>통화</a:t>
            </a:r>
            <a:r>
              <a:rPr lang="en-US" sz="4000" b="1" dirty="0">
                <a:solidFill>
                  <a:srgbClr val="303642"/>
                </a:solidFill>
                <a:latin typeface="Roboto Bold"/>
                <a:ea typeface="맑은 고딕"/>
                <a:cs typeface="맑은 고딕"/>
                <a:sym typeface="Roboto Bold"/>
              </a:rPr>
              <a:t> </a:t>
            </a:r>
            <a:r>
              <a:rPr lang="en-US" sz="4000" b="1" dirty="0" err="1">
                <a:solidFill>
                  <a:srgbClr val="303642"/>
                </a:solidFill>
                <a:latin typeface="Roboto Bold"/>
                <a:ea typeface="맑은 고딕"/>
                <a:cs typeface="맑은 고딕"/>
                <a:sym typeface="Roboto Bold"/>
              </a:rPr>
              <a:t>서비스</a:t>
            </a:r>
            <a:endParaRPr lang="en-US" sz="4000" b="1" dirty="0">
              <a:solidFill>
                <a:srgbClr val="303642"/>
              </a:solidFill>
              <a:latin typeface="Roboto Bold"/>
              <a:ea typeface="맑은 고딕"/>
              <a:cs typeface="맑은 고딕"/>
              <a:sym typeface="Robot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80587" y="6104652"/>
            <a:ext cx="8526827" cy="276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말하지</a:t>
            </a:r>
            <a:r>
              <a:rPr lang="en-US" sz="2219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2219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않아도</a:t>
            </a:r>
            <a:r>
              <a:rPr lang="en-US" sz="2219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, </a:t>
            </a:r>
            <a:r>
              <a:rPr lang="en-US" sz="2219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전화로</a:t>
            </a:r>
            <a:r>
              <a:rPr lang="en-US" sz="2219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2219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소통하는</a:t>
            </a:r>
            <a:r>
              <a:rPr lang="en-US" sz="2219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2219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세상</a:t>
            </a:r>
            <a:endParaRPr lang="en-US" sz="2219" dirty="0">
              <a:solidFill>
                <a:srgbClr val="303642"/>
              </a:solidFill>
              <a:latin typeface="Poppins"/>
              <a:ea typeface="맑은 고딕"/>
              <a:cs typeface="맑은 고딕"/>
              <a:sym typeface="Poppins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1800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청각장애인·통화</a:t>
            </a:r>
            <a:r>
              <a:rPr lang="en-US" sz="1800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약자를</a:t>
            </a:r>
            <a:r>
              <a:rPr lang="en-US" sz="1800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위한</a:t>
            </a:r>
            <a:r>
              <a:rPr lang="en-US" sz="1800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실시간</a:t>
            </a:r>
            <a:r>
              <a:rPr lang="en-US" sz="1800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자막</a:t>
            </a:r>
            <a:r>
              <a:rPr lang="en-US" sz="1800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AI </a:t>
            </a:r>
            <a:r>
              <a:rPr lang="en-US" sz="1800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통화</a:t>
            </a:r>
            <a:r>
              <a:rPr lang="en-US" sz="1800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비서</a:t>
            </a:r>
            <a:endParaRPr lang="en-US" sz="1800" dirty="0">
              <a:solidFill>
                <a:srgbClr val="303642"/>
              </a:solidFill>
              <a:latin typeface="Poppins"/>
              <a:ea typeface="맑은 고딕"/>
              <a:cs typeface="맑은 고딕"/>
              <a:sym typeface="Poppins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endParaRPr lang="en-US" dirty="0">
              <a:solidFill>
                <a:srgbClr val="303642"/>
              </a:solidFill>
              <a:latin typeface="Poppins"/>
              <a:ea typeface="맑은 고딕"/>
              <a:cs typeface="맑은 고딕"/>
              <a:sym typeface="Poppins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endParaRPr lang="en-US" sz="1800" dirty="0">
              <a:solidFill>
                <a:srgbClr val="303642"/>
              </a:solidFill>
              <a:latin typeface="Poppins"/>
              <a:ea typeface="맑은 고딕"/>
              <a:cs typeface="맑은 고딕"/>
              <a:sym typeface="Poppins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endParaRPr lang="en-US" sz="1800" dirty="0">
              <a:solidFill>
                <a:srgbClr val="303642"/>
              </a:solidFill>
              <a:latin typeface="Poppins"/>
              <a:ea typeface="맑은 고딕"/>
              <a:cs typeface="맑은 고딕"/>
              <a:sym typeface="Poppins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ko-KR" altLang="en-US" sz="2400" b="1" dirty="0" err="1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팀명</a:t>
            </a:r>
            <a:r>
              <a:rPr lang="ko-KR" altLang="en-US" sz="2400" b="1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altLang="ko-KR" sz="2400" b="1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	</a:t>
            </a:r>
            <a:r>
              <a:rPr lang="ko-KR" altLang="en-US" sz="2400" b="1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강원식이</a:t>
            </a:r>
            <a:endParaRPr lang="en-US" altLang="ko-KR" sz="2400" b="1" dirty="0">
              <a:solidFill>
                <a:srgbClr val="303642"/>
              </a:solidFill>
              <a:latin typeface="Poppins"/>
              <a:ea typeface="맑은 고딕"/>
              <a:cs typeface="맑은 고딕"/>
              <a:sym typeface="Poppins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송선호 </a:t>
            </a:r>
            <a:r>
              <a:rPr lang="en-US" altLang="ko-KR" sz="2400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|</a:t>
            </a:r>
            <a:r>
              <a:rPr lang="en-US" altLang="ko-KR" sz="2400" b="1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ko-KR" altLang="en-US" sz="2400" b="1" dirty="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박재석</a:t>
            </a:r>
            <a:endParaRPr lang="en-US" altLang="ko-KR" b="1" dirty="0">
              <a:solidFill>
                <a:srgbClr val="303642"/>
              </a:solidFill>
              <a:latin typeface="Poppins"/>
              <a:ea typeface="맑은 고딕"/>
              <a:cs typeface="맑은 고딕"/>
              <a:sym typeface="Poppin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1908043" y="0"/>
            <a:ext cx="6379957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640583" y="1606753"/>
            <a:ext cx="1868266" cy="186826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508848" y="3436440"/>
            <a:ext cx="4908029" cy="64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00" dirty="0" err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앱·메신저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시대에도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</a:p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00" dirty="0" err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예약·문의·변경은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여전히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전화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중심</a:t>
            </a:r>
            <a:endParaRPr lang="en-US" sz="1800" dirty="0">
              <a:solidFill>
                <a:srgbClr val="FFFFFF"/>
              </a:solidFill>
              <a:latin typeface="Poppins"/>
              <a:ea typeface="맑은 고딕"/>
              <a:cs typeface="맑은 고딕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08848" y="5095875"/>
            <a:ext cx="4908029" cy="97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전화가 어려우면 일상적인 일도 혼자 처리 불가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8848" y="6962540"/>
            <a:ext cx="4908029" cy="97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결국 가족·지인에게 부탁하거나 포기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640583" y="4210291"/>
            <a:ext cx="1868266" cy="1868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40583" y="6811982"/>
            <a:ext cx="1868266" cy="186826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908043" y="914400"/>
            <a:ext cx="5508835" cy="7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sz="4000">
                <a:solidFill>
                  <a:srgbClr val="FFFFFF"/>
                </a:solidFill>
                <a:latin typeface="Roboto"/>
                <a:ea typeface="맑은 고딕"/>
                <a:cs typeface="맑은 고딕"/>
                <a:sym typeface="Roboto"/>
              </a:rPr>
              <a:t>문제 정의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73498" y="1744684"/>
            <a:ext cx="4243380" cy="79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sz="4200" b="1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전화만 되는 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755298" y="190147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55298" y="4495485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55298" y="709773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93666" y="1665402"/>
            <a:ext cx="5948366" cy="168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병원</a:t>
            </a:r>
          </a:p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진료 예약 · 접수 변경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93666" y="4364190"/>
            <a:ext cx="5948366" cy="168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식당 · 매장</a:t>
            </a:r>
          </a:p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예약 · 재고와 영업시간 문의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93666" y="6870631"/>
            <a:ext cx="5948366" cy="168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생활 연락</a:t>
            </a:r>
          </a:p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택배 기사 · 집주인 · 관공서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67950" y="806450"/>
            <a:ext cx="6294884" cy="8674100"/>
            <a:chOff x="0" y="0"/>
            <a:chExt cx="1657912" cy="22845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7912" cy="2284537"/>
            </a:xfrm>
            <a:custGeom>
              <a:avLst/>
              <a:gdLst/>
              <a:ahLst/>
              <a:cxnLst/>
              <a:rect l="l" t="t" r="r" b="b"/>
              <a:pathLst>
                <a:path w="1657912" h="2284537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726528"/>
            <a:ext cx="8229600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4400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전화가 어려운 사람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14400"/>
            <a:ext cx="5634574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4400">
                <a:solidFill>
                  <a:srgbClr val="000000"/>
                </a:solidFill>
                <a:latin typeface="Roboto"/>
                <a:ea typeface="맑은 고딕"/>
                <a:cs typeface="맑은 고딕"/>
                <a:sym typeface="Roboto"/>
              </a:rPr>
              <a:t>문제 고객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71179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듣기·말하기가 어려워 음성 통화가 불가능하거나 큰 부담인 사람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665079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대신 전화해 줄 사람이 없으면 진료 예약도 지연 · 사생활 노출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862583" y="1606753"/>
            <a:ext cx="1868266" cy="186826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862583" y="4210291"/>
            <a:ext cx="1868266" cy="186826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62583" y="6811982"/>
            <a:ext cx="1868266" cy="186826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977298" y="190147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77298" y="4495485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77298" y="709773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09261" y="2134861"/>
            <a:ext cx="4856091" cy="96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청각장애인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상대방의 말을 들을 수 없음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09261" y="4638917"/>
            <a:ext cx="4856091" cy="96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언어장애인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말로 의사 전달이 어려움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09261" y="7241532"/>
            <a:ext cx="4856091" cy="96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콜포비아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통화 자체에 큰 불안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413750" y="1110371"/>
            <a:ext cx="3340100" cy="3784600"/>
            <a:chOff x="0" y="0"/>
            <a:chExt cx="879697" cy="9967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726528"/>
            <a:ext cx="5898349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0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한계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14400"/>
            <a:ext cx="5634574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4400">
                <a:solidFill>
                  <a:srgbClr val="000000"/>
                </a:solidFill>
                <a:latin typeface="Roboto"/>
                <a:ea typeface="맑은 고딕"/>
                <a:cs typeface="맑은 고딕"/>
                <a:sym typeface="Roboto"/>
              </a:rPr>
              <a:t>기존 서비스의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71179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대리 통화 수단은 있으나 대기가 길고, 사용자가 통화를 직접 통제하기 어려움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665079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→ 사람 없이, 즉시, 사용자가 통제하는 대리 통화 필요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413750" y="5473700"/>
            <a:ext cx="3340100" cy="3784600"/>
            <a:chOff x="0" y="0"/>
            <a:chExt cx="879697" cy="9967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957840" y="1950106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3800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107</a:t>
            </a:r>
          </a:p>
          <a:p>
            <a:pPr algn="ctr">
              <a:lnSpc>
                <a:spcPts val="6113"/>
              </a:lnSpc>
            </a:pPr>
            <a:r>
              <a:rPr lang="en-US" sz="3800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손말이음</a:t>
            </a:r>
          </a:p>
          <a:p>
            <a:pPr algn="ctr">
              <a:lnSpc>
                <a:spcPts val="6113"/>
              </a:lnSpc>
            </a:pPr>
            <a:r>
              <a:rPr lang="en-US" sz="3800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센터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57840" y="6178445"/>
            <a:ext cx="4251920" cy="228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3800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해외</a:t>
            </a:r>
          </a:p>
          <a:p>
            <a:pPr algn="ctr">
              <a:lnSpc>
                <a:spcPts val="6113"/>
              </a:lnSpc>
            </a:pPr>
            <a:r>
              <a:rPr lang="en-US" sz="3800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AI 대리</a:t>
            </a:r>
          </a:p>
          <a:p>
            <a:pPr algn="ctr">
              <a:lnSpc>
                <a:spcPts val="6113"/>
              </a:lnSpc>
            </a:pPr>
            <a:r>
              <a:rPr lang="en-US" sz="3800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통화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19310" y="2229571"/>
            <a:ext cx="4650324" cy="14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사람 중계사가 중간에서 전달 · 연결 대기 발생 · 제3자가 통화 내용을 모두 청취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19310" y="6592900"/>
            <a:ext cx="4650324" cy="14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해외 AI 대리 통화 등장 · 한국어·국내 업체 환경 미지원 · 통화 중 사용자 개입 어려움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257175" y="4502250"/>
            <a:ext cx="18802350" cy="2006600"/>
            <a:chOff x="0" y="0"/>
            <a:chExt cx="4952059" cy="5284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5807" y="1884385"/>
            <a:ext cx="6756386" cy="9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CallProtocol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08107" y="1209675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00">
                <a:solidFill>
                  <a:srgbClr val="303642"/>
                </a:solidFill>
                <a:latin typeface="Roboto"/>
                <a:ea typeface="맑은 고딕"/>
                <a:cs typeface="맑은 고딕"/>
                <a:sym typeface="Roboto"/>
              </a:rPr>
              <a:t>우리의 해결책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3200" y="2794493"/>
            <a:ext cx="12801600" cy="79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0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글로 요청하면 AI가 대신 통화하고, 통화 내용은 실시간 자막으로 제공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69039" y="5029897"/>
            <a:ext cx="3263886" cy="96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4000" b="1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글로 요청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9989" y="5029897"/>
            <a:ext cx="3263886" cy="96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4000" b="1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AI 음성 통화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5075" y="5029897"/>
            <a:ext cx="3263886" cy="96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4000" b="1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실시간 자막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7178" y="7356575"/>
            <a:ext cx="4247608" cy="15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00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전화번호와 요청 내용만 입력 · 부족한 정보는 AI가 먼저 질문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8128" y="7356575"/>
            <a:ext cx="4247608" cy="15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00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자연스러운 한국어 음성의 AI 비서가 AI임을 밝히고 대신 통화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63214" y="7356575"/>
            <a:ext cx="4247608" cy="15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00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상대방 말을 자막으로 확인 · 언제든 글로 개입해 직접 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09411" y="1662134"/>
            <a:ext cx="4243380" cy="79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400" b="1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사용 흐름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9411" y="942975"/>
            <a:ext cx="4842085" cy="7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000">
                <a:solidFill>
                  <a:srgbClr val="FFFFFF"/>
                </a:solidFill>
                <a:latin typeface="Roboto"/>
                <a:ea typeface="맑은 고딕"/>
                <a:cs typeface="맑은 고딕"/>
                <a:sym typeface="Roboto"/>
              </a:rPr>
              <a:t>서비스 설명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9411" y="3385429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① 전화할 곳과 요청 내용 입력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② AI가 정리한 통화 계획 확인 후 발신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9411" y="5426930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③ 통화 중 자막 확인 · 필요 시 개입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④ 종료 후 결과 요약 · 전체 대화 저장</a:t>
            </a:r>
          </a:p>
        </p:txBody>
      </p:sp>
      <p:pic>
        <p:nvPicPr>
          <p:cNvPr id="16" name="Picture 15" descr="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955719"/>
            <a:ext cx="6675120" cy="4580801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  <p:pic>
        <p:nvPicPr>
          <p:cNvPr id="17" name="Picture 16" descr="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4796199"/>
            <a:ext cx="6675120" cy="4580801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463040"/>
            <a:ext cx="58521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4000" b="0">
                <a:solidFill>
                  <a:srgbClr val="000000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사용자 맞춤</a:t>
            </a:r>
          </a:p>
          <a:p>
            <a:pPr algn="l">
              <a:lnSpc>
                <a:spcPts val="7431"/>
              </a:lnSpc>
            </a:pPr>
            <a:r>
              <a:rPr lang="en-US" sz="4800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3가지 통화 방식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31920"/>
            <a:ext cx="5852160" cy="457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AI 보조 통화 (추천)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AI가 통화 · 사용자는 자막 보며 개입</a:t>
            </a:r>
          </a:p>
          <a:p>
            <a:pPr algn="l">
              <a:lnSpc>
                <a:spcPts val="2976"/>
              </a:lnSpc>
              <a:spcBef>
                <a:spcPts val="1800"/>
              </a:spcBef>
            </a:pPr>
            <a:r>
              <a:rPr lang="en-US" sz="22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AI 자율 통화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AI가 처음부터 끝까지 알아서 진행</a:t>
            </a:r>
          </a:p>
          <a:p>
            <a:pPr algn="l">
              <a:lnSpc>
                <a:spcPts val="2976"/>
              </a:lnSpc>
              <a:spcBef>
                <a:spcPts val="1800"/>
              </a:spcBef>
            </a:pPr>
            <a:r>
              <a:rPr lang="en-US" sz="22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텍스트 직접 통화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입력한 문장을 AI 음성으로 그대로 전달</a:t>
            </a:r>
          </a:p>
          <a:p>
            <a:pPr algn="l">
              <a:lnSpc>
                <a:spcPts val="2976"/>
              </a:lnSpc>
              <a:spcBef>
                <a:spcPts val="2800"/>
              </a:spcBef>
            </a:pPr>
            <a:r>
              <a:rPr lang="en-US" sz="18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+ 내 이름·연락처 뒷자리 설정 → 예약자 정보 자동 안내</a:t>
            </a:r>
          </a:p>
        </p:txBody>
      </p:sp>
      <p:pic>
        <p:nvPicPr>
          <p:cNvPr id="5" name="Picture 4" descr="mo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3478"/>
            <a:ext cx="9509760" cy="7874323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828800" y="1394069"/>
            <a:ext cx="14630400" cy="9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000" b="1" dirty="0" err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병원</a:t>
            </a:r>
            <a:r>
              <a:rPr lang="en-US" sz="5000" b="1" dirty="0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 </a:t>
            </a:r>
            <a:r>
              <a:rPr lang="en-US" sz="5000" b="1" dirty="0" err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예약</a:t>
            </a:r>
            <a:r>
              <a:rPr lang="en-US" sz="5000" b="1" dirty="0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 </a:t>
            </a:r>
            <a:r>
              <a:rPr lang="en-US" sz="5000" b="1" dirty="0" err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통화</a:t>
            </a:r>
            <a:r>
              <a:rPr lang="en-US" sz="5000" b="1" dirty="0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 </a:t>
            </a:r>
            <a:r>
              <a:rPr lang="en-US" sz="5000" b="1" dirty="0" err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처음부터</a:t>
            </a:r>
            <a:r>
              <a:rPr lang="en-US" sz="5000" b="1" dirty="0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 </a:t>
            </a:r>
            <a:r>
              <a:rPr lang="en-US" sz="5000" b="1" dirty="0" err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끝까지</a:t>
            </a:r>
            <a:endParaRPr lang="en-US" sz="5000" b="1" dirty="0">
              <a:solidFill>
                <a:srgbClr val="004AAD"/>
              </a:solidFill>
              <a:latin typeface="League Spartan"/>
              <a:ea typeface="맑은 고딕"/>
              <a:cs typeface="맑은 고딕"/>
              <a:sym typeface="League Spart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18918" y="719359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00">
                <a:solidFill>
                  <a:srgbClr val="303642"/>
                </a:solidFill>
                <a:latin typeface="Roboto"/>
                <a:ea typeface="맑은 고딕"/>
                <a:cs typeface="맑은 고딕"/>
                <a:sym typeface="Roboto"/>
              </a:rPr>
              <a:t>서비스 시연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8800" y="2294652"/>
            <a:ext cx="14630400" cy="79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0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청각장애인 재석 님의 '내일 오전 내과 진료' 예약 · 실제 보이스톡 통화 장면</a:t>
            </a:r>
          </a:p>
        </p:txBody>
      </p:sp>
      <p:pic>
        <p:nvPicPr>
          <p:cNvPr id="6" name="Picture 5" descr="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58" y="3429000"/>
            <a:ext cx="5234363" cy="2395728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91539" y="5897880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4AAD"/>
                </a:solidFill>
                <a:ea typeface="맑은 고딕"/>
              </a:rPr>
              <a:t>① AI 첫인사</a:t>
            </a:r>
            <a:r>
              <a:rPr sz="1700" b="0">
                <a:solidFill>
                  <a:srgbClr val="333333"/>
                </a:solidFill>
                <a:ea typeface="맑은 고딕"/>
              </a:rPr>
              <a:t>   AI 비서임을 먼저 고지</a:t>
            </a:r>
          </a:p>
        </p:txBody>
      </p:sp>
      <p:pic>
        <p:nvPicPr>
          <p:cNvPr id="8" name="Picture 7" descr="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818" y="3429000"/>
            <a:ext cx="5234363" cy="2395728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15100" y="5897880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4AAD"/>
                </a:solidFill>
                <a:ea typeface="맑은 고딕"/>
              </a:rPr>
              <a:t>② 용건 전달</a:t>
            </a:r>
            <a:r>
              <a:rPr sz="1700" b="0">
                <a:solidFill>
                  <a:srgbClr val="333333"/>
                </a:solidFill>
                <a:ea typeface="맑은 고딕"/>
              </a:rPr>
              <a:t>   병원 응답이 실시간 자막으로</a:t>
            </a:r>
          </a:p>
        </p:txBody>
      </p:sp>
      <p:pic>
        <p:nvPicPr>
          <p:cNvPr id="10" name="Picture 9" descr="s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0378" y="3429000"/>
            <a:ext cx="5234363" cy="2395728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2138660" y="5897880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4AAD"/>
                </a:solidFill>
                <a:ea typeface="맑은 고딕"/>
              </a:rPr>
              <a:t>③ 사용자 개입</a:t>
            </a:r>
            <a:r>
              <a:rPr sz="1700" b="0">
                <a:solidFill>
                  <a:srgbClr val="333333"/>
                </a:solidFill>
                <a:ea typeface="맑은 고딕"/>
              </a:rPr>
              <a:t>   오전 마감 → '오후 2시로 해줘'</a:t>
            </a:r>
          </a:p>
        </p:txBody>
      </p:sp>
      <p:pic>
        <p:nvPicPr>
          <p:cNvPr id="12" name="Picture 11" descr="s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258" y="6784848"/>
            <a:ext cx="5234363" cy="2395728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91539" y="9253728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4AAD"/>
                </a:solidFill>
                <a:ea typeface="맑은 고딕"/>
              </a:rPr>
              <a:t>④ 개인정보 거절</a:t>
            </a:r>
            <a:r>
              <a:rPr sz="1700" b="0">
                <a:solidFill>
                  <a:srgbClr val="333333"/>
                </a:solidFill>
                <a:ea typeface="맑은 고딕"/>
              </a:rPr>
              <a:t>   주민번호 요청은 AI가 거절</a:t>
            </a:r>
          </a:p>
        </p:txBody>
      </p:sp>
      <p:pic>
        <p:nvPicPr>
          <p:cNvPr id="14" name="Picture 13" descr="s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818" y="6784848"/>
            <a:ext cx="5234363" cy="2395728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515100" y="9253728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4AAD"/>
                </a:solidFill>
                <a:ea typeface="맑은 고딕"/>
              </a:rPr>
              <a:t>⑤ 예약 완료</a:t>
            </a:r>
            <a:r>
              <a:rPr sz="1700" b="0">
                <a:solidFill>
                  <a:srgbClr val="333333"/>
                </a:solidFill>
                <a:ea typeface="맑은 고딕"/>
              </a:rPr>
              <a:t>   날짜·시간 복창으로 재확인</a:t>
            </a:r>
          </a:p>
        </p:txBody>
      </p:sp>
      <p:pic>
        <p:nvPicPr>
          <p:cNvPr id="16" name="Picture 15" descr="s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50378" y="6784848"/>
            <a:ext cx="5234363" cy="2395728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2138660" y="9253728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4AAD"/>
                </a:solidFill>
                <a:ea typeface="맑은 고딕"/>
              </a:rPr>
              <a:t>⑥ 결과 요약</a:t>
            </a:r>
            <a:r>
              <a:rPr sz="1700" b="0">
                <a:solidFill>
                  <a:srgbClr val="333333"/>
                </a:solidFill>
                <a:ea typeface="맑은 고딕"/>
              </a:rPr>
              <a:t>   확정된 '오후 2시' 자동 정리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173913"/>
            <a:ext cx="6021380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0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사용자 개입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61785"/>
            <a:ext cx="4842085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4400">
                <a:solidFill>
                  <a:srgbClr val="000000"/>
                </a:solidFill>
                <a:latin typeface="Roboto"/>
                <a:ea typeface="맑은 고딕"/>
                <a:cs typeface="맑은 고딕"/>
                <a:sym typeface="Roboto"/>
              </a:rPr>
              <a:t>핵심 장면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832814"/>
            <a:ext cx="55710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청각장애인 재석 님의 내일 오전 내과 진료 예약 요청 · 오전 마감 시 AI가 임의로 정하지 않고 사용자에게 확인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693340"/>
            <a:ext cx="55710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사용자가 '오후 2시로 해줘' 입력 → AI가 즉시 병원에 전달해 예약 완료</a:t>
            </a:r>
          </a:p>
        </p:txBody>
      </p:sp>
      <p:pic>
        <p:nvPicPr>
          <p:cNvPr id="7" name="Picture 6" descr="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51883"/>
            <a:ext cx="9966960" cy="7537513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2743200" y="1791504"/>
            <a:ext cx="12801600" cy="9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200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시스템 구성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18918" y="1116794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00">
                <a:solidFill>
                  <a:srgbClr val="303642"/>
                </a:solidFill>
                <a:latin typeface="Roboto"/>
                <a:ea typeface="맑은 고딕"/>
                <a:cs typeface="맑은 고딕"/>
                <a:sym typeface="Roboto"/>
              </a:rPr>
              <a:t>기술 구현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43200" y="2711137"/>
            <a:ext cx="12801600" cy="79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00">
                <a:solidFill>
                  <a:srgbClr val="303642"/>
                </a:solidFill>
                <a:latin typeface="Poppins"/>
                <a:ea typeface="맑은 고딕"/>
                <a:cs typeface="맑은 고딕"/>
                <a:sym typeface="Poppins"/>
              </a:rPr>
              <a:t>사용자 화면 · 음성 AI · 통화 연결을 실시간으로 연동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39" y="4114800"/>
            <a:ext cx="3611880" cy="3749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004AAD"/>
                </a:solidFill>
                <a:latin typeface="Poppins"/>
                <a:ea typeface="맑은 고딕"/>
              </a:rPr>
              <a:t>① 웹 앱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Python 서버 + 웹 화면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요청 입력 · 실시간 자막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글로 끼어들기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94859" y="5715000"/>
            <a:ext cx="502920" cy="548640"/>
          </a:xfrm>
          <a:prstGeom prst="rightArrow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89220" y="4114800"/>
            <a:ext cx="3611880" cy="3749039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 w="381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Poppins"/>
                <a:ea typeface="맑은 고딕"/>
              </a:rPr>
              <a:t>② ElevenLabs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Poppins"/>
                <a:ea typeface="맑은 고딕"/>
              </a:rPr>
              <a:t>음성 인식 → AI 대화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Poppins"/>
                <a:ea typeface="맑은 고딕"/>
              </a:rPr>
              <a:t>→ 한국어 음성 합성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Poppins"/>
                <a:ea typeface="맑은 고딕"/>
              </a:rPr>
              <a:t>WebSocket 실시간 연결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92540" y="5715000"/>
            <a:ext cx="502920" cy="548640"/>
          </a:xfrm>
          <a:prstGeom prst="rightArrow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86900" y="4114800"/>
            <a:ext cx="3611880" cy="3749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004AAD"/>
                </a:solidFill>
                <a:latin typeface="Poppins"/>
                <a:ea typeface="맑은 고딕"/>
              </a:rPr>
              <a:t>③ 가상 오디오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VB-CABLE · VoiceMeeter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AI 음성 입출력을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통화 앱에 연결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3190219" y="5715000"/>
            <a:ext cx="502920" cy="548640"/>
          </a:xfrm>
          <a:prstGeom prst="rightArrow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84580" y="4114800"/>
            <a:ext cx="3611880" cy="3749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004AAD"/>
                </a:solidFill>
                <a:latin typeface="Poppins"/>
                <a:ea typeface="맑은 고딕"/>
              </a:rPr>
              <a:t>④ 카카오톡 보이스톡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실제 상대방 폰으로 통화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받는 쪽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1F1F"/>
                </a:solidFill>
                <a:latin typeface="Poppins"/>
                <a:ea typeface="맑은 고딕"/>
              </a:rPr>
              <a:t>별도 설치 불필요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8275320"/>
            <a:ext cx="1554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4AAD"/>
                </a:solidFill>
                <a:ea typeface="맑은 고딕"/>
              </a:rPr>
              <a:t>실서비스: ③④를 전화망 API(Twilio)로 대체해 실제 전화번호로 바로 발신</a:t>
            </a:r>
            <a:r>
              <a:rPr sz="1800" b="0">
                <a:solidFill>
                  <a:srgbClr val="404040"/>
                </a:solidFill>
                <a:ea typeface="맑은 고딕"/>
              </a:rPr>
              <a:t>  ·  설계·개발: Kiro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198245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982450" y="1681184"/>
            <a:ext cx="5943600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4400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안전한 대리인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82450" y="914400"/>
            <a:ext cx="4842085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4400">
                <a:solidFill>
                  <a:srgbClr val="000000"/>
                </a:solidFill>
                <a:latin typeface="Roboto"/>
                <a:ea typeface="맑은 고딕"/>
                <a:cs typeface="맑은 고딕"/>
                <a:sym typeface="Roboto"/>
              </a:rPr>
              <a:t>안전 설계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82450" y="3671179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통화 첫마디에 AI 비서임을 고지 · 사람 행세나 사용자 사칭 금지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82450" y="5665079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주민번호·계좌·카드 등 개인정보·결제 요청은 AI가 거절 · 중요한 결정은 사용자 확인 후 진행</a:t>
            </a:r>
          </a:p>
        </p:txBody>
      </p:sp>
      <p:pic>
        <p:nvPicPr>
          <p:cNvPr id="16" name="Picture 15" descr="gr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1014983"/>
            <a:ext cx="6583680" cy="4279392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  <p:pic>
        <p:nvPicPr>
          <p:cNvPr id="17" name="Picture 16" descr="ref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19" y="4874552"/>
            <a:ext cx="6766560" cy="3966895"/>
          </a:xfrm>
          <a:prstGeom prst="rect">
            <a:avLst/>
          </a:prstGeom>
          <a:ln w="50800">
            <a:solidFill>
              <a:srgbClr val="004AA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1624726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624726" y="1726528"/>
            <a:ext cx="4243380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0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확장 계획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24726" y="914400"/>
            <a:ext cx="5634574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4400">
                <a:solidFill>
                  <a:srgbClr val="000000"/>
                </a:solidFill>
                <a:latin typeface="Roboto"/>
                <a:ea typeface="맑은 고딕"/>
                <a:cs typeface="맑은 고딕"/>
                <a:sym typeface="Roboto"/>
              </a:rPr>
              <a:t>앞으로의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24726" y="3671179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맑은 고딕"/>
                <a:cs typeface="맑은 고딕"/>
                <a:sym typeface="Poppins"/>
              </a:rPr>
              <a:t>전화 앞에서 포기하는 사람이 없도록, 누구나 쓰는 통화 도우미로 확장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06450" y="806450"/>
            <a:ext cx="6990015" cy="8674100"/>
            <a:chOff x="0" y="0"/>
            <a:chExt cx="1840992" cy="22845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40992" cy="2284537"/>
            </a:xfrm>
            <a:custGeom>
              <a:avLst/>
              <a:gdLst/>
              <a:ahLst/>
              <a:cxnLst/>
              <a:rect l="l" t="t" r="r" b="b"/>
              <a:pathLst>
                <a:path w="1840992" h="2284537">
                  <a:moveTo>
                    <a:pt x="56486" y="0"/>
                  </a:moveTo>
                  <a:lnTo>
                    <a:pt x="1784506" y="0"/>
                  </a:lnTo>
                  <a:cubicBezTo>
                    <a:pt x="1799487" y="0"/>
                    <a:pt x="1813854" y="5951"/>
                    <a:pt x="1824447" y="16544"/>
                  </a:cubicBezTo>
                  <a:cubicBezTo>
                    <a:pt x="1835041" y="27138"/>
                    <a:pt x="1840992" y="41505"/>
                    <a:pt x="1840992" y="56486"/>
                  </a:cubicBezTo>
                  <a:lnTo>
                    <a:pt x="1840992" y="2228051"/>
                  </a:lnTo>
                  <a:cubicBezTo>
                    <a:pt x="1840992" y="2243032"/>
                    <a:pt x="1835041" y="2257399"/>
                    <a:pt x="1824447" y="2267992"/>
                  </a:cubicBezTo>
                  <a:cubicBezTo>
                    <a:pt x="1813854" y="2278586"/>
                    <a:pt x="1799487" y="2284537"/>
                    <a:pt x="1784506" y="2284537"/>
                  </a:cubicBezTo>
                  <a:lnTo>
                    <a:pt x="56486" y="2284537"/>
                  </a:lnTo>
                  <a:cubicBezTo>
                    <a:pt x="41505" y="2284537"/>
                    <a:pt x="27138" y="2278586"/>
                    <a:pt x="16544" y="2267992"/>
                  </a:cubicBezTo>
                  <a:cubicBezTo>
                    <a:pt x="5951" y="2257399"/>
                    <a:pt x="0" y="2243032"/>
                    <a:pt x="0" y="2228051"/>
                  </a:cubicBezTo>
                  <a:lnTo>
                    <a:pt x="0" y="56486"/>
                  </a:lnTo>
                  <a:cubicBezTo>
                    <a:pt x="0" y="41505"/>
                    <a:pt x="5951" y="27138"/>
                    <a:pt x="16544" y="16544"/>
                  </a:cubicBezTo>
                  <a:cubicBezTo>
                    <a:pt x="27138" y="5951"/>
                    <a:pt x="41505" y="0"/>
                    <a:pt x="56486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840992" cy="2332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78172" y="2129313"/>
            <a:ext cx="4856091" cy="97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실제 전화망 연결</a:t>
            </a:r>
          </a:p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전화번호로 바로 거는 실서비스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8172" y="4633369"/>
            <a:ext cx="4856091" cy="97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걸려 오는 전화</a:t>
            </a:r>
          </a:p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택배·병원 콜백을 자막으로 수신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8172" y="7336782"/>
            <a:ext cx="4856091" cy="97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더 많은 사용자</a:t>
            </a:r>
          </a:p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맑은 고딕"/>
                <a:cs typeface="맑은 고딕"/>
                <a:sym typeface="Poppins"/>
              </a:rPr>
              <a:t>외국인·어르신용 쉬운 말 모드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862333" y="1606753"/>
            <a:ext cx="1868266" cy="186826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62333" y="4210291"/>
            <a:ext cx="1868266" cy="186826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62333" y="6811982"/>
            <a:ext cx="1868266" cy="186826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977048" y="190147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77048" y="4495485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77048" y="709773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698500" y="3124200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41400" y="3124200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33297" y="3191597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6600" b="1">
                <a:solidFill>
                  <a:srgbClr val="004AAD"/>
                </a:solidFill>
                <a:latin typeface="League Spartan"/>
                <a:ea typeface="맑은 고딕"/>
                <a:cs typeface="맑은 고딕"/>
                <a:sym typeface="League Spartan"/>
              </a:rPr>
              <a:t>감사합니다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16825" y="6705600"/>
            <a:ext cx="3054350" cy="761278"/>
            <a:chOff x="0" y="0"/>
            <a:chExt cx="804438" cy="2005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4438" cy="200501"/>
            </a:xfrm>
            <a:custGeom>
              <a:avLst/>
              <a:gdLst/>
              <a:ahLst/>
              <a:cxnLst/>
              <a:rect l="l" t="t" r="r" b="b"/>
              <a:pathLst>
                <a:path w="804438" h="200501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347826" y="6846823"/>
            <a:ext cx="3592349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>
                <a:solidFill>
                  <a:srgbClr val="FFFFFF"/>
                </a:solidFill>
                <a:latin typeface="League Spartan"/>
                <a:ea typeface="맑은 고딕"/>
                <a:cs typeface="맑은 고딕"/>
                <a:sym typeface="League Spartan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1079</Words>
  <Application>Microsoft Office PowerPoint</Application>
  <PresentationFormat>사용자 지정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Roboto Bold</vt:lpstr>
      <vt:lpstr>맑은 고딕</vt:lpstr>
      <vt:lpstr>Roboto</vt:lpstr>
      <vt:lpstr>Poppins</vt:lpstr>
      <vt:lpstr>Arial</vt:lpstr>
      <vt:lpstr>League Spartan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cp:lastModifiedBy>재석 박</cp:lastModifiedBy>
  <cp:revision>1</cp:revision>
  <dcterms:created xsi:type="dcterms:W3CDTF">2006-08-16T00:00:00Z</dcterms:created>
  <dcterms:modified xsi:type="dcterms:W3CDTF">2026-10-16T04:43:10Z</dcterms:modified>
  <dc:identifier>DAHX3Ctb-gc</dc:identifier>
</cp:coreProperties>
</file>